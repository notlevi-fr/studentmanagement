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977639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Student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8036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>
                <a:solidFill>
                  <a:srgbClr val="AEC4E0"/>
                </a:solidFill>
                <a:latin typeface="Calibri"/>
              </a:rPr>
              <a:t>Database Design &amp;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CCE 104  |  SQLite  |  Python (PyQt6)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Calibri"/>
              </a:rPr>
              <a:t>student.db  —  2 tables: users, students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Why This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56032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0">
                <a:solidFill>
                  <a:srgbClr val="AEC4E0"/>
                </a:solidFill>
                <a:latin typeface="Calibri"/>
              </a:rPr>
              <a:t>2/5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C55A11"/>
                </a:solidFill>
                <a:latin typeface="Calibr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Student records kept on paper / scattered files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Slow retrieval, duplicated and inconsistent data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No access control — anyone can edit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463040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E75B6"/>
                </a:solidFill>
                <a:latin typeface="Calibri"/>
              </a:rPr>
              <a:t>Why a Database?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874519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Centralized, structured storage (single student.db)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Data integrity via NOT NULL, UNIQUE, PRIMARY KEY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Fast search, update, and report generation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749039"/>
            <a:ext cx="11155680" cy="265176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88620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F3864"/>
                </a:solidFill>
                <a:latin typeface="Calibri"/>
              </a:rPr>
              <a:t>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9768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Design a relational schema for student records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Secure the data with a login (users) module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Support full CRUD: add, view, update, delete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29768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Enforce constraints to prevent bad input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Use parameterized queries (no SQL injection)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Keep the design simple and easy to maintain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Entity–Relationship Diagram (ERD)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56032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0">
                <a:solidFill>
                  <a:srgbClr val="AEC4E0"/>
                </a:solidFill>
                <a:latin typeface="Calibri"/>
              </a:rPr>
              <a:t>3/5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3108960" cy="115214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3108960" cy="3840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21408"/>
            <a:ext cx="3108960" cy="768096"/>
          </a:xfrm>
          <a:prstGeom prst="rect">
            <a:avLst/>
          </a:prstGeom>
          <a:noFill/>
        </p:spPr>
        <p:txBody>
          <a:bodyPr wrap="square" tIns="38100">
            <a:spAutoFit/>
          </a:bodyPr>
          <a:lstStyle/>
          <a:p>
            <a:pPr>
              <a:spcAft>
                <a:spcPts val="100"/>
              </a:spcAft>
            </a:pPr>
            <a:r>
              <a:rPr sz="1150" b="1">
                <a:solidFill>
                  <a:srgbClr val="1F3864"/>
                </a:solidFill>
                <a:latin typeface="Consolas"/>
              </a:rPr>
              <a:t>PK  id (INTEGER, PK)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333333"/>
                </a:solidFill>
                <a:latin typeface="Consolas"/>
              </a:rPr>
              <a:t>     username (TEXT, UNIQUE)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333333"/>
                </a:solidFill>
                <a:latin typeface="Consolas"/>
              </a:rPr>
              <a:t>     password (TEXT)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808080"/>
                </a:solidFill>
                <a:latin typeface="Calibri"/>
              </a:rPr>
              <a:t>admin / staff login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554480"/>
            <a:ext cx="3657600" cy="1664208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0" y="1554480"/>
            <a:ext cx="3657600" cy="3840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STUDENTS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938528"/>
            <a:ext cx="3657600" cy="1280160"/>
          </a:xfrm>
          <a:prstGeom prst="rect">
            <a:avLst/>
          </a:prstGeom>
          <a:noFill/>
        </p:spPr>
        <p:txBody>
          <a:bodyPr wrap="square" tIns="38100">
            <a:spAutoFit/>
          </a:bodyPr>
          <a:lstStyle/>
          <a:p>
            <a:pPr>
              <a:spcAft>
                <a:spcPts val="100"/>
              </a:spcAft>
            </a:pPr>
            <a:r>
              <a:rPr sz="1150" b="1">
                <a:solidFill>
                  <a:srgbClr val="1F3864"/>
                </a:solidFill>
                <a:latin typeface="Consolas"/>
              </a:rPr>
              <a:t>PK  id (INTEGER, PK)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333333"/>
                </a:solidFill>
                <a:latin typeface="Consolas"/>
              </a:rPr>
              <a:t>     fullname, age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333333"/>
                </a:solidFill>
                <a:latin typeface="Consolas"/>
              </a:rPr>
              <a:t>     address, contact, email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333333"/>
                </a:solidFill>
                <a:latin typeface="Consolas"/>
              </a:rPr>
              <a:t>     course, year_level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333333"/>
                </a:solidFill>
                <a:latin typeface="Consolas"/>
              </a:rPr>
              <a:t>     subjects (multivalued)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4290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808080"/>
                </a:solidFill>
                <a:latin typeface="Calibri"/>
              </a:rPr>
              <a:t>student records</a:t>
            </a:r>
          </a:p>
        </p:txBody>
      </p:sp>
      <p:sp>
        <p:nvSpPr>
          <p:cNvPr id="14" name="Oval 13"/>
          <p:cNvSpPr/>
          <p:nvPr/>
        </p:nvSpPr>
        <p:spPr>
          <a:xfrm>
            <a:off x="9052560" y="3063240"/>
            <a:ext cx="2377440" cy="685800"/>
          </a:xfrm>
          <a:prstGeom prst="ellipse">
            <a:avLst/>
          </a:prstGeom>
          <a:solidFill>
            <a:srgbClr val="F2F6FA"/>
          </a:solidFill>
          <a:ln w="1905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C55A11"/>
                </a:solidFill>
                <a:latin typeface="Calibri"/>
              </a:rPr>
              <a:t>{ subjects }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86800" y="2788920"/>
            <a:ext cx="1005840" cy="320040"/>
          </a:xfrm>
          <a:prstGeom prst="line">
            <a:avLst/>
          </a:prstGeom>
          <a:ln w="19050">
            <a:solidFill>
              <a:srgbClr val="C55A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iamond 15"/>
          <p:cNvSpPr/>
          <p:nvPr/>
        </p:nvSpPr>
        <p:spPr>
          <a:xfrm>
            <a:off x="3703320" y="4480560"/>
            <a:ext cx="2651760" cy="1005840"/>
          </a:xfrm>
          <a:prstGeom prst="diamond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manages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94560" y="3383280"/>
            <a:ext cx="2011680" cy="114300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852160" y="3566160"/>
            <a:ext cx="1005840" cy="96012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240280" y="3566160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08080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749039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08080"/>
                </a:solidFill>
                <a:latin typeface="Calibri"/>
              </a:rPr>
              <a:t>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760720"/>
            <a:ext cx="10972800" cy="82296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87044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Legend:  PK = primary key   |   { } = multivalued attribute (stored as JSON)   |   1 admin manages N student records (enforced at application level)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Relational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56032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0">
                <a:solidFill>
                  <a:srgbClr val="AEC4E0"/>
                </a:solidFill>
                <a:latin typeface="Calibri"/>
              </a:rPr>
              <a:t>4/5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Consolas"/>
              </a:rPr>
              <a:t>users ( id ⬑, username ⬑, password )        students ( id ⬑, fullname, age, address, contact, email, course, year_level, subjects 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5577840" cy="3291840"/>
          </a:xfrm>
          <a:prstGeom prst="roundRect">
            <a:avLst>
              <a:gd name="adj" fmla="val 6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7CC7FF"/>
                </a:solidFill>
                <a:latin typeface="Consolas"/>
              </a:rPr>
              <a:t>CREATE TABLE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40280"/>
            <a:ext cx="5120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E8E8E8"/>
                </a:solidFill>
                <a:latin typeface="Consolas"/>
              </a:rPr>
              <a:t>id       INTEGER PRIMARY KEY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8E8E8"/>
                </a:solidFill>
                <a:latin typeface="Consolas"/>
              </a:rPr>
              <a:t>         AUTOINCREMENT,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8E8E8"/>
                </a:solidFill>
                <a:latin typeface="Consolas"/>
              </a:rPr>
              <a:t>username TEXT UNIQUE NOT NULL,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8E8E8"/>
                </a:solidFill>
                <a:latin typeface="Consolas"/>
              </a:rPr>
              <a:t>password TEXT NOT NULL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645920"/>
            <a:ext cx="5577840" cy="3291840"/>
          </a:xfrm>
          <a:prstGeom prst="roundRect">
            <a:avLst>
              <a:gd name="adj" fmla="val 6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78308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7CC7FF"/>
                </a:solidFill>
                <a:latin typeface="Consolas"/>
              </a:rPr>
              <a:t>CREATE TABLE students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194560"/>
            <a:ext cx="5120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E8E8E8"/>
                </a:solidFill>
                <a:latin typeface="Consolas"/>
              </a:rPr>
              <a:t>id         INTEGER PRIMARY KEY,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8E8E8"/>
                </a:solidFill>
                <a:latin typeface="Consolas"/>
              </a:rPr>
              <a:t>fullname   TEXT NOT NULL,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8E8E8"/>
                </a:solidFill>
                <a:latin typeface="Consolas"/>
              </a:rPr>
              <a:t>age        INTEGER NOT NULL,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8E8E8"/>
                </a:solidFill>
                <a:latin typeface="Consolas"/>
              </a:rPr>
              <a:t>address    TEXT NOT NULL,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8E8E8"/>
                </a:solidFill>
                <a:latin typeface="Consolas"/>
              </a:rPr>
              <a:t>contact    TEXT NOT NULL,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8E8E8"/>
                </a:solidFill>
                <a:latin typeface="Consolas"/>
              </a:rPr>
              <a:t>email      TEXT NOT NULL,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8E8E8"/>
                </a:solidFill>
                <a:latin typeface="Consolas"/>
              </a:rPr>
              <a:t>course     TEXT NOT NULL,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8E8E8"/>
                </a:solidFill>
                <a:latin typeface="Consolas"/>
              </a:rPr>
              <a:t>year_level TEXT NOT NULL,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8E8E8"/>
                </a:solidFill>
                <a:latin typeface="Consolas"/>
              </a:rPr>
              <a:t>subjects   TEXT  -- JSON array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120640"/>
            <a:ext cx="11384280" cy="141732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23036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Calibri"/>
              </a:rPr>
              <a:t>Design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5778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Storage: SQLite file (student.db) — no server needed, ideal for a desktop app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Constraints: PRIMARY KEY, UNIQUE, NOT NULL reject invalid data at insert time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subjects is a multivalued attribute serialized with json.dumps() into TEXT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56032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0">
                <a:solidFill>
                  <a:srgbClr val="AEC4E0"/>
                </a:solidFill>
                <a:latin typeface="Calibri"/>
              </a:rPr>
              <a:t>5/5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E75B6"/>
                </a:solidFill>
                <a:latin typeface="Calibri"/>
              </a:rPr>
              <a:t>What the DB Provides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2 normalized tables: users + students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Secure login before any record is accessed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Full CRUD via parameterized SQL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Consistent, non-redundant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7160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50876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C55A11"/>
                </a:solidFill>
                <a:latin typeface="Calibri"/>
              </a:rPr>
              <a:t>Possible Improvements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92024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Separate subjects into its own table (1NF)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Hash passwords instead of plain text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Add enrollments table (student ↔ subject)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Migrate to MySQL/PostgreSQL if multi-user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931920"/>
            <a:ext cx="11247120" cy="237744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11480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3864"/>
                </a:solidFill>
                <a:latin typeface="Calibri"/>
              </a:rPr>
              <a:t>Key 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1772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  <a:latin typeface="Calibri"/>
              </a:rPr>
              <a:t>A well-designed database turns scattered student records into a single, reliable source of truth — the ERD defines WHAT data we store, the schema defines HOW it is structured, and constraints keep it clean over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